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Fiber-to-Detector 2D Coupling: Model &amp;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283E93"/>
                </a:solidFill>
              </a:defRPr>
            </a:pPr>
            <a:r>
              <a:t>Geometry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SMF-28 fiber emits along +x; detector active face points -z (downward)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Only diverging rays from the Gaussian tail reach the detector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2D cross-section in the x-z plane; detector length = 1 mm</a:t>
            </a:r>
          </a:p>
          <a:p>
            <a:pPr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283E93"/>
                </a:solidFill>
              </a:defRPr>
            </a:pPr>
            <a:r>
              <a:t>Factors in the Model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1.  Gaussian beam angular profile  G(th) = exp(-2 th^2 / th0^2)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2.  Snell refraction at fiber exit  (n_core &gt; n_air -&gt; beam widens)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3.  Fresnel transmission at fiber exit  (glass -&gt; air interface)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4.  Geometric angular aperture  (which angles hit the detector)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5.  Fresnel transmission at detector  (air -&gt; InGaAs, angle-dependent)</a:t>
            </a:r>
          </a:p>
          <a:p>
            <a:pPr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283E93"/>
                </a:solidFill>
              </a:defRPr>
            </a:pPr>
            <a:r>
              <a:t>Coupling Fraction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eta = Integral of  [ G * T_fiber * T_detector ]  over detector angles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       divided by total Gaussian power in forward half-space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616161"/>
                </a:solidFill>
              </a:defRPr>
            </a:pPr>
            <a:r>
              <a:t>Each factor is evaluated at every angle — not a single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143000"/>
            <a:ext cx="4297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B71C1C"/>
                </a:solidFill>
              </a:defRPr>
            </a:pPr>
            <a:r>
              <a:t>Dominant Loss Mechanisms</a:t>
            </a:r>
          </a:p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D2D2D"/>
                </a:solidFill>
              </a:defRPr>
            </a:pPr>
            <a:r>
              <a:t>1. Gaussian falloff (dominant)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Intensity drops exponentially off-axis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At th0:  13.5% of peak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At 2*th0:  0.03% of peak</a:t>
            </a:r>
          </a:p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D2D2D"/>
                </a:solidFill>
              </a:defRPr>
            </a:pPr>
            <a:r>
              <a:t>2. Fresnel loss at detector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High index mismatch (n=1 -&gt; n=3.5)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Near-grazing incidence in this geometry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Transmittance 40-60% at typical angles</a:t>
            </a:r>
          </a:p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D2D2D"/>
                </a:solidFill>
              </a:defRPr>
            </a:pPr>
            <a:r>
              <a:t>3. Fresnel loss at fiber exit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Glass-to-air reflection (~3.6%)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Relatively minor compared to above two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How Position Affects Coupling (x, z Dependence)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6400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B71C1C"/>
                </a:solidFill>
              </a:defRPr>
            </a:pPr>
            <a:r>
              <a:t>Vertical distance z  (dominant)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Larger z  -&gt;  steeper angle from fiber axis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Steeper angle  -&gt;  deeper into Gaussian tail  -&gt;  exponentially less power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Also: steeper angle  -&gt;  more grazing on detector  -&gt;  higher Fresnel loss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B71C1C"/>
                </a:solidFill>
              </a:defRPr>
            </a:pPr>
            <a:r>
              <a:t>z is the single most critical parameter</a:t>
            </a:r>
          </a:p>
          <a:p>
            <a:pPr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283E93"/>
                </a:solidFill>
              </a:defRPr>
            </a:pPr>
            <a:r>
              <a:t>Horizontal distance x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Larger x  -&gt;  ray angle to detector center decreases (closer to axis)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  -&gt; more Gaussian intensity available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But also: larger x  -&gt;  detector subtends smaller angular range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  -&gt; captures less of the beam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83E93"/>
                </a:solidFill>
              </a:defRPr>
            </a:pPr>
            <a:r>
              <a:t>Trade-off: optimal x exists for each z</a:t>
            </a:r>
          </a:p>
          <a:p>
            <a:pPr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283E93"/>
                </a:solidFill>
              </a:defRPr>
            </a:pPr>
            <a:r>
              <a:t>Combined behavior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Best coupling at small z and moderate x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Coupling falls off exponentially with z, logarithmically with x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143000"/>
            <a:ext cx="4572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83E93"/>
                </a:solidFill>
              </a:defRPr>
            </a:pPr>
            <a:r>
              <a:t>Physical Picture</a:t>
            </a:r>
          </a:p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616161"/>
                </a:solidFill>
              </a:defRPr>
            </a:pPr>
            <a:r>
              <a:t>The Gaussian beam is a narrow cone:</a:t>
            </a:r>
          </a:p>
          <a:p>
            <a:pPr>
              <a:spcAft>
                <a:spcPts val="300"/>
              </a:spcAft>
              <a:defRPr sz="1400" b="0">
                <a:solidFill>
                  <a:srgbClr val="616161"/>
                </a:solidFill>
              </a:defRPr>
            </a:pPr>
            <a:r>
              <a:t>most power within ~5 deg of axis.</a:t>
            </a:r>
          </a:p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D2D2D"/>
                </a:solidFill>
              </a:defRPr>
            </a:pPr>
            <a:r>
              <a:t>Moving detector UP (larger z):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-&gt; requires light at steeper angles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B71C1C"/>
                </a:solidFill>
              </a:defRPr>
            </a:pPr>
            <a:r>
              <a:t>-&gt; exponential intensity drop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B71C1C"/>
                </a:solidFill>
              </a:defRPr>
            </a:pPr>
            <a:r>
              <a:t>-&gt; worse Fresnel at detector</a:t>
            </a:r>
          </a:p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D2D2D"/>
                </a:solidFill>
              </a:defRPr>
            </a:pPr>
            <a:r>
              <a:t>Moving detector RIGHT (larger x):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E7D32"/>
                </a:solidFill>
              </a:defRPr>
            </a:pPr>
            <a:r>
              <a:t>-&gt; shallower angle (more intensity)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B71C1C"/>
                </a:solidFill>
              </a:defRPr>
            </a:pPr>
            <a:r>
              <a:t>-&gt; but narrower angular aperture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t>-&gt; net effect: diminishing returns</a:t>
            </a:r>
          </a:p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E7D32"/>
                </a:solidFill>
              </a:defRPr>
            </a:pPr>
            <a:r>
              <a:t>Best 2D coupling: ~4-5%</a:t>
            </a:r>
          </a:p>
          <a:p>
            <a:pPr>
              <a:spcAft>
                <a:spcPts val="300"/>
              </a:spcAft>
              <a:defRPr sz="1400" b="0">
                <a:solidFill>
                  <a:srgbClr val="2E7D32"/>
                </a:solidFill>
              </a:defRPr>
            </a:pPr>
            <a:r>
              <a:t>(-13 to -15 dBm for 0 dBm input)</a:t>
            </a:r>
          </a:p>
          <a:p>
            <a:pPr>
              <a:spcAft>
                <a:spcPts val="300"/>
              </a:spcAft>
              <a:defRPr sz="1400" b="0">
                <a:solidFill>
                  <a:srgbClr val="2E7D32"/>
                </a:solidFill>
              </a:defRPr>
            </a:pPr>
            <a:r>
              <a:t>at z ~ 100-200 um, x ~ 2000-4000 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Detector &amp; Waveguide Placement: Safe from Stray 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283E93"/>
                </a:solidFill>
              </a:defRPr>
            </a:pPr>
            <a:r>
              <a:t>Placement Strategy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All waveguides and detector must lie outside the 2*th0 emission cone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2*th0 = 10.9 deg  contains 99.97% of beam power  (only 0.03% beyond)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Additional 500 um safety margin in lateral (y) direction</a:t>
            </a:r>
          </a:p>
          <a:p>
            <a:pPr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283E93"/>
                </a:solidFill>
              </a:defRPr>
            </a:pPr>
            <a:r>
              <a:t>Waveguide Loopback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Lateral shift y = cone height at arm end + 500 um margin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Arm length 7000 um  |  pitch 127 um  |  all arms above the cone</a:t>
            </a:r>
          </a:p>
          <a:p>
            <a:pPr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283E93"/>
                </a:solidFill>
              </a:defRPr>
            </a:pPr>
            <a:r>
              <a:t>Detector (1 mm diameter, parallel to chip)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  <a:r>
              <a:t>Placed at min. clearance position: 500 um inside WG end, 500 um above cone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B71C1C"/>
                </a:solidFill>
              </a:defRPr>
            </a:pPr>
            <a:r>
              <a:t>Angle from fiber axis to detector center: 15.1 deg  &gt;&gt;  2*th0 = 10.9 deg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B71C1C"/>
                </a:solidFill>
              </a:defRPr>
            </a:pPr>
            <a:r>
              <a:t>Gaussian intensity at detector: &lt; 10^-7 of peak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B71C1C"/>
                </a:solidFill>
              </a:defRPr>
            </a:pPr>
            <a:r>
              <a:t>Coupled power: &lt; -80 dBm  (effectively zero stray light)</a:t>
            </a:r>
          </a:p>
          <a:p>
            <a:pPr>
              <a:spcAft>
                <a:spcPts val="300"/>
              </a:spcAft>
              <a:defRPr sz="1500" b="0">
                <a:solidFill>
                  <a:srgbClr val="2D2D2D"/>
                </a:solidFill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2E7D32"/>
                </a:solidFill>
              </a:defRPr>
            </a:pPr>
            <a:r>
              <a:t>Verification Summary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E7D32"/>
                </a:solidFill>
              </a:defRPr>
            </a:pPr>
            <a:r>
              <a:t>Detector center well outside beam cone (15 deg vs 11 deg boundary)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E7D32"/>
                </a:solidFill>
              </a:defRPr>
            </a:pPr>
            <a:r>
              <a:t>Waveguides entirely beyond 2*th0 + 500 um margin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E7D32"/>
                </a:solidFill>
              </a:defRPr>
            </a:pPr>
            <a:r>
              <a:t>No fiber stray light interferes with detector or waveguide etch region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2E7D32"/>
                </a:solidFill>
              </a:defRPr>
            </a:pPr>
            <a:r>
              <a:t>Safe for detector operation without additional shielding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